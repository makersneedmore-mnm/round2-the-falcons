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3" r:id="rId7"/>
    <p:sldId id="264" r:id="rId8"/>
    <p:sldId id="267" r:id="rId9"/>
    <p:sldId id="260" r:id="rId10"/>
    <p:sldId id="269" r:id="rId11"/>
    <p:sldId id="261" r:id="rId12"/>
    <p:sldId id="265" r:id="rId13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21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360" y="2423160"/>
            <a:ext cx="493776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80360" y="3063240"/>
            <a:ext cx="4937760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571530" y="2629654"/>
            <a:ext cx="7772400" cy="1967376"/>
          </a:xfrm>
          <a:prstGeom prst="rect">
            <a:avLst/>
          </a:prstGeom>
          <a:solidFill>
            <a:srgbClr val="071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799" y="3380791"/>
            <a:ext cx="9041587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IN" sz="4800" b="1" spc="300" dirty="0">
                <a:solidFill>
                  <a:srgbClr val="FFFFFF"/>
                </a:solidFill>
                <a:latin typeface="Arial"/>
              </a:rPr>
              <a:t>CASCADIA</a:t>
            </a:r>
            <a:endParaRPr sz="4800" b="1" i="0" spc="30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3828422" y="4198804"/>
            <a:ext cx="3597310" cy="0"/>
          </a:xfrm>
          <a:prstGeom prst="line">
            <a:avLst/>
          </a:prstGeom>
          <a:ln w="15875">
            <a:solidFill>
              <a:srgbClr val="C8A7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5799" y="4320031"/>
            <a:ext cx="904158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b="0" i="0" dirty="0">
                <a:solidFill>
                  <a:srgbClr val="5DE0E0"/>
                </a:solidFill>
                <a:latin typeface="Arial"/>
              </a:rPr>
              <a:t>Proactive Cyber-Resilience for Critical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1198" y="5250183"/>
            <a:ext cx="1338508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2400" dirty="0">
                <a:solidFill>
                  <a:srgbClr val="FFFFFF"/>
                </a:solidFill>
                <a:latin typeface="Book Antiqua" panose="02040602050305030304" pitchFamily="18" charset="0"/>
              </a:rPr>
              <a:t>The Elites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5462" y="5902512"/>
            <a:ext cx="1550000" cy="1107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2400" b="0" i="0" dirty="0">
                <a:solidFill>
                  <a:srgbClr val="FFFFFF"/>
                </a:solidFill>
                <a:latin typeface="Book Antiqua" panose="02040602050305030304" pitchFamily="18" charset="0"/>
              </a:rPr>
              <a:t>Fuzail</a:t>
            </a:r>
          </a:p>
          <a:p>
            <a:pPr algn="l">
              <a:spcAft>
                <a:spcPts val="200"/>
              </a:spcAft>
            </a:pPr>
            <a:r>
              <a:rPr lang="en-IN" sz="2400" dirty="0">
                <a:solidFill>
                  <a:srgbClr val="FFFFFF"/>
                </a:solidFill>
                <a:latin typeface="Book Antiqua" panose="02040602050305030304" pitchFamily="18" charset="0"/>
              </a:rPr>
              <a:t>Aryan</a:t>
            </a:r>
          </a:p>
          <a:p>
            <a:pPr algn="l">
              <a:spcAft>
                <a:spcPts val="200"/>
              </a:spcAft>
            </a:pPr>
            <a:r>
              <a:rPr lang="en-IN" sz="2400" b="0" i="0" dirty="0">
                <a:solidFill>
                  <a:srgbClr val="FFFFFF"/>
                </a:solidFill>
                <a:latin typeface="Book Antiqua" panose="02040602050305030304" pitchFamily="18" charset="0"/>
              </a:rPr>
              <a:t>Lakshya </a:t>
            </a:r>
            <a:endParaRPr lang="en-IN" sz="2400" dirty="0">
              <a:solidFill>
                <a:srgbClr val="FFFFFF"/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E858AB-7F60-8B40-9AE3-61DB40ACB713}"/>
              </a:ext>
            </a:extLst>
          </p:cNvPr>
          <p:cNvSpPr txBox="1"/>
          <p:nvPr/>
        </p:nvSpPr>
        <p:spPr>
          <a:xfrm>
            <a:off x="1986640" y="4668146"/>
            <a:ext cx="7877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IN" dirty="0">
                <a:solidFill>
                  <a:srgbClr val="5DE0E0"/>
                </a:solidFill>
                <a:latin typeface="Arial"/>
              </a:rPr>
              <a:t>See the Threat. Understand the Impact. Choose the Safer Response. 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E73BF1-EB42-A393-E2CE-F12F819AD5B5}"/>
              </a:ext>
            </a:extLst>
          </p:cNvPr>
          <p:cNvSpPr txBox="1"/>
          <p:nvPr/>
        </p:nvSpPr>
        <p:spPr>
          <a:xfrm>
            <a:off x="1862995" y="2027310"/>
            <a:ext cx="78940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latin typeface="Book Antiqua" panose="02040602050305030304" pitchFamily="18" charset="0"/>
              </a:rPr>
              <a:t>THE INNOVATOR’S COURT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9052560" cy="3566160"/>
          </a:xfrm>
          <a:prstGeom prst="rect">
            <a:avLst/>
          </a:prstGeom>
          <a:solidFill>
            <a:srgbClr val="060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2A1010"/>
          </a:solidFill>
          <a:ln w="19050">
            <a:solidFill>
              <a:srgbClr val="E1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2542032"/>
            <a:ext cx="10058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 dirty="0">
                <a:solidFill>
                  <a:srgbClr val="AEB9CC"/>
                </a:solidFill>
                <a:latin typeface="Arial"/>
              </a:rPr>
              <a:t>Hospital</a:t>
            </a:r>
          </a:p>
          <a:p>
            <a:pPr algn="ctr">
              <a:spcAft>
                <a:spcPts val="200"/>
              </a:spcAft>
            </a:pPr>
            <a:r>
              <a:rPr sz="1050" b="0" i="0" dirty="0">
                <a:solidFill>
                  <a:srgbClr val="AEB9CC"/>
                </a:solidFill>
                <a:latin typeface="Arial"/>
              </a:rPr>
              <a:t>Network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35607" y="2203704"/>
            <a:ext cx="512065" cy="0"/>
          </a:xfrm>
          <a:prstGeom prst="line">
            <a:avLst/>
          </a:prstGeom>
          <a:ln w="19050">
            <a:solidFill>
              <a:srgbClr val="E14B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47672" y="1920240"/>
            <a:ext cx="566928" cy="566928"/>
          </a:xfrm>
          <a:prstGeom prst="ellipse">
            <a:avLst/>
          </a:prstGeom>
          <a:solidFill>
            <a:srgbClr val="060C1B"/>
          </a:solidFill>
          <a:ln w="1905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28216" y="2542032"/>
            <a:ext cx="10058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 dirty="0">
                <a:solidFill>
                  <a:srgbClr val="AEB9CC"/>
                </a:solidFill>
                <a:latin typeface="Arial"/>
              </a:rPr>
              <a:t>Power &amp;</a:t>
            </a:r>
          </a:p>
          <a:p>
            <a:pPr algn="ctr">
              <a:spcAft>
                <a:spcPts val="200"/>
              </a:spcAft>
            </a:pPr>
            <a:r>
              <a:rPr sz="1050" b="0" i="0" dirty="0">
                <a:solidFill>
                  <a:srgbClr val="AEB9CC"/>
                </a:solidFill>
                <a:latin typeface="Arial"/>
              </a:rPr>
              <a:t>SCADA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203704"/>
            <a:ext cx="512063" cy="0"/>
          </a:xfrm>
          <a:prstGeom prst="line">
            <a:avLst/>
          </a:prstGeom>
          <a:ln w="19050">
            <a:solidFill>
              <a:srgbClr val="2A4A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026663" y="1920240"/>
            <a:ext cx="566928" cy="566928"/>
          </a:xfrm>
          <a:prstGeom prst="ellipse">
            <a:avLst/>
          </a:prstGeom>
          <a:solidFill>
            <a:srgbClr val="060C1B"/>
          </a:solidFill>
          <a:ln w="1905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43784" y="2560320"/>
            <a:ext cx="10058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 dirty="0">
                <a:solidFill>
                  <a:srgbClr val="AEB9CC"/>
                </a:solidFill>
                <a:latin typeface="Arial"/>
              </a:rPr>
              <a:t>Water</a:t>
            </a:r>
          </a:p>
          <a:p>
            <a:pPr algn="ctr">
              <a:spcAft>
                <a:spcPts val="200"/>
              </a:spcAft>
            </a:pPr>
            <a:r>
              <a:rPr sz="1050" b="0" i="0" dirty="0">
                <a:solidFill>
                  <a:srgbClr val="AEB9CC"/>
                </a:solidFill>
                <a:latin typeface="Arial"/>
              </a:rPr>
              <a:t>Systems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93592" y="2203704"/>
            <a:ext cx="512064" cy="0"/>
          </a:xfrm>
          <a:prstGeom prst="line">
            <a:avLst/>
          </a:prstGeom>
          <a:ln w="19050">
            <a:solidFill>
              <a:srgbClr val="2A4A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105656" y="1920240"/>
            <a:ext cx="566928" cy="566928"/>
          </a:xfrm>
          <a:prstGeom prst="ellipse">
            <a:avLst/>
          </a:prstGeom>
          <a:solidFill>
            <a:srgbClr val="060C1B"/>
          </a:solidFill>
          <a:ln w="1905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0" y="2542032"/>
            <a:ext cx="10058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 dirty="0">
                <a:solidFill>
                  <a:srgbClr val="AEB9CC"/>
                </a:solidFill>
                <a:latin typeface="Arial"/>
              </a:rPr>
              <a:t>Emergency</a:t>
            </a:r>
          </a:p>
          <a:p>
            <a:pPr algn="ctr">
              <a:spcAft>
                <a:spcPts val="200"/>
              </a:spcAft>
            </a:pPr>
            <a:r>
              <a:rPr sz="1050" b="0" i="0" dirty="0">
                <a:solidFill>
                  <a:srgbClr val="AEB9CC"/>
                </a:solidFill>
                <a:latin typeface="Arial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8249"/>
            <a:ext cx="42062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 dirty="0">
                <a:solidFill>
                  <a:srgbClr val="8692A6"/>
                </a:solidFill>
                <a:latin typeface="Arial"/>
              </a:rPr>
              <a:t>A compromise in one system can quietly reach the next.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" y="3272983"/>
            <a:ext cx="118872" cy="118872"/>
          </a:xfrm>
          <a:prstGeom prst="ellipse">
            <a:avLst/>
          </a:prstGeom>
          <a:solidFill>
            <a:srgbClr val="E1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704" y="3246120"/>
            <a:ext cx="1645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Attack origin</a:t>
            </a:r>
          </a:p>
        </p:txBody>
      </p:sp>
      <p:sp>
        <p:nvSpPr>
          <p:cNvPr id="19" name="Oval 18"/>
          <p:cNvSpPr/>
          <p:nvPr/>
        </p:nvSpPr>
        <p:spPr>
          <a:xfrm>
            <a:off x="2537460" y="3288580"/>
            <a:ext cx="118872" cy="118872"/>
          </a:xfrm>
          <a:prstGeom prst="ellipse">
            <a:avLst/>
          </a:prstGeom>
          <a:solidFill>
            <a:srgbClr val="3D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28328" y="3224697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Connected sector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1" y="4218567"/>
            <a:ext cx="4352543" cy="1392615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377890"/>
            <a:ext cx="4055364" cy="11085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 i="0" dirty="0">
                <a:solidFill>
                  <a:srgbClr val="AEB9CC"/>
                </a:solidFill>
                <a:latin typeface="Arial"/>
              </a:rPr>
              <a:t>Without shared context, a breach in </a:t>
            </a:r>
            <a:r>
              <a:rPr lang="en-IN" sz="1600" dirty="0">
                <a:solidFill>
                  <a:srgbClr val="AEB9CC"/>
                </a:solidFill>
                <a:latin typeface="Arial"/>
              </a:rPr>
              <a:t>one </a:t>
            </a:r>
            <a:r>
              <a:rPr sz="1600" b="0" i="0" dirty="0">
                <a:solidFill>
                  <a:srgbClr val="AEB9CC"/>
                </a:solidFill>
                <a:latin typeface="Arial"/>
              </a:rPr>
              <a:t>sector can spread </a:t>
            </a:r>
            <a:r>
              <a:rPr lang="en-IN" sz="1600" dirty="0">
                <a:solidFill>
                  <a:srgbClr val="AEB9CC"/>
                </a:solidFill>
                <a:latin typeface="Arial"/>
              </a:rPr>
              <a:t>through connected </a:t>
            </a:r>
            <a:r>
              <a:rPr sz="1600" b="0" i="0" dirty="0">
                <a:solidFill>
                  <a:srgbClr val="AEB9CC"/>
                </a:solidFill>
                <a:latin typeface="Arial"/>
              </a:rPr>
              <a:t>systems before anyone notices the fuller pattern.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49240" y="1920240"/>
            <a:ext cx="0" cy="3291840"/>
          </a:xfrm>
          <a:prstGeom prst="line">
            <a:avLst/>
          </a:prstGeom>
          <a:ln w="12700">
            <a:solidFill>
              <a:srgbClr val="1B2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623560" y="1920240"/>
            <a:ext cx="219456" cy="219456"/>
          </a:xfrm>
          <a:prstGeom prst="ellipse">
            <a:avLst/>
          </a:prstGeom>
          <a:solidFill>
            <a:srgbClr val="C8A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23560" y="192024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A1200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892808"/>
            <a:ext cx="374903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b="1" i="0" dirty="0">
                <a:solidFill>
                  <a:srgbClr val="FFFFFF"/>
                </a:solidFill>
                <a:latin typeface="Arial"/>
              </a:rPr>
              <a:t>Sectors are connected, defenses are 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6058" y="2608964"/>
            <a:ext cx="3749039" cy="96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Hospitals, power grids, and water systems increasingly share networks, vendors, and control links — but security is still managed sector by sector.</a:t>
            </a:r>
          </a:p>
        </p:txBody>
      </p:sp>
      <p:sp>
        <p:nvSpPr>
          <p:cNvPr id="28" name="Oval 27"/>
          <p:cNvSpPr/>
          <p:nvPr/>
        </p:nvSpPr>
        <p:spPr>
          <a:xfrm>
            <a:off x="5673317" y="3902813"/>
            <a:ext cx="238141" cy="276999"/>
          </a:xfrm>
          <a:prstGeom prst="ellipse">
            <a:avLst/>
          </a:prstGeom>
          <a:solidFill>
            <a:srgbClr val="C8A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35371" y="3950017"/>
            <a:ext cx="300687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 dirty="0">
                <a:solidFill>
                  <a:srgbClr val="1A1200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1" y="3950017"/>
            <a:ext cx="374903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b="1" i="0" dirty="0">
                <a:solidFill>
                  <a:srgbClr val="FFFFFF"/>
                </a:solidFill>
                <a:latin typeface="Arial"/>
              </a:rPr>
              <a:t>Alerts without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25897" y="4311396"/>
            <a:ext cx="3749039" cy="722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Reactive tools flag individual events but rarely show how one small breach could cascade into a critical system.</a:t>
            </a:r>
          </a:p>
        </p:txBody>
      </p:sp>
      <p:sp>
        <p:nvSpPr>
          <p:cNvPr id="32" name="Oval 31"/>
          <p:cNvSpPr/>
          <p:nvPr/>
        </p:nvSpPr>
        <p:spPr>
          <a:xfrm>
            <a:off x="5614012" y="5334184"/>
            <a:ext cx="238148" cy="276999"/>
          </a:xfrm>
          <a:prstGeom prst="ellipse">
            <a:avLst/>
          </a:prstGeom>
          <a:solidFill>
            <a:srgbClr val="C8A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51465" y="5405608"/>
            <a:ext cx="38193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 dirty="0">
                <a:solidFill>
                  <a:srgbClr val="1A1200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18" y="5362956"/>
            <a:ext cx="374903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b="1" i="0" dirty="0">
                <a:solidFill>
                  <a:srgbClr val="FFFFFF"/>
                </a:solidFill>
                <a:latin typeface="Arial"/>
              </a:rPr>
              <a:t>Response comes too 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19" y="5778152"/>
            <a:ext cx="3749039" cy="47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By the time impact is understood, the threat may have already reached a high-value asset.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9052560" cy="3566160"/>
          </a:xfrm>
          <a:prstGeom prst="rect">
            <a:avLst/>
          </a:prstGeom>
          <a:solidFill>
            <a:srgbClr val="060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03598"/>
            <a:ext cx="8961120" cy="542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600" b="0" i="0" dirty="0">
                <a:solidFill>
                  <a:srgbClr val="FFFFFF"/>
                </a:solidFill>
                <a:latin typeface="Arial"/>
              </a:rPr>
              <a:t>A proactive cyber-resilience platform that connects detection to context — showing what's affected, what a threat can reach, and the safest way to respond.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700784" cy="228600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90472" y="2971800"/>
            <a:ext cx="365760" cy="365760"/>
          </a:xfrm>
          <a:prstGeom prst="ellipse">
            <a:avLst/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0472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DE0E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6093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13048"/>
            <a:ext cx="1517904" cy="722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Map assets, criticality &amp; connections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3744" y="3931920"/>
            <a:ext cx="128016" cy="0"/>
          </a:xfrm>
          <a:prstGeom prst="line">
            <a:avLst/>
          </a:prstGeom>
          <a:ln w="1905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51760" y="2788920"/>
            <a:ext cx="1700784" cy="228600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1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19272" y="2971800"/>
            <a:ext cx="365760" cy="365760"/>
          </a:xfrm>
          <a:prstGeom prst="ellipse">
            <a:avLst/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DE0E0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3447287"/>
            <a:ext cx="16093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813048"/>
            <a:ext cx="1517904" cy="47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Spot anomalies and threat activity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52544" y="3931920"/>
            <a:ext cx="128015" cy="0"/>
          </a:xfrm>
          <a:prstGeom prst="line">
            <a:avLst/>
          </a:prstGeom>
          <a:ln w="1905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0560" y="2788920"/>
            <a:ext cx="1700784" cy="228600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48072" y="2971800"/>
            <a:ext cx="365760" cy="365760"/>
          </a:xfrm>
          <a:prstGeom prst="ellipse">
            <a:avLst/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48072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DE0E0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447287"/>
            <a:ext cx="16093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Assess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13048"/>
            <a:ext cx="1517904" cy="722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Score impact using context, not just alerts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81344" y="3931920"/>
            <a:ext cx="128016" cy="0"/>
          </a:xfrm>
          <a:prstGeom prst="line">
            <a:avLst/>
          </a:prstGeom>
          <a:ln w="1905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2788920"/>
            <a:ext cx="1700784" cy="228600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1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976872" y="2971800"/>
            <a:ext cx="365760" cy="365760"/>
          </a:xfrm>
          <a:prstGeom prst="ellipse">
            <a:avLst/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76872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DE0E0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447287"/>
            <a:ext cx="16093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Contain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13048"/>
            <a:ext cx="1517904" cy="722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Simulate and recommend the safest response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10144" y="3931920"/>
            <a:ext cx="128016" cy="0"/>
          </a:xfrm>
          <a:prstGeom prst="line">
            <a:avLst/>
          </a:prstGeom>
          <a:ln w="1905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38160" y="2788920"/>
            <a:ext cx="1700784" cy="228600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805672" y="2971800"/>
            <a:ext cx="365760" cy="365760"/>
          </a:xfrm>
          <a:prstGeom prst="ellipse">
            <a:avLst/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05672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DE0E0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447287"/>
            <a:ext cx="160934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Recover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813048"/>
            <a:ext cx="1517904" cy="47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Track restoration of critical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05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9052560" cy="3611880"/>
          </a:xfrm>
          <a:prstGeom prst="rect">
            <a:avLst/>
          </a:prstGeom>
          <a:solidFill>
            <a:srgbClr val="060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160520" cy="393192"/>
          </a:xfrm>
          <a:prstGeom prst="roundRect">
            <a:avLst>
              <a:gd name="adj" fmla="val 50000"/>
            </a:avLst>
          </a:prstGeom>
          <a:solidFill>
            <a:srgbClr val="0A1123"/>
          </a:solidFill>
          <a:ln w="1270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1540" y="1834178"/>
            <a:ext cx="37947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 spc="50" dirty="0">
                <a:solidFill>
                  <a:srgbClr val="C8A74B"/>
                </a:solidFill>
                <a:latin typeface="Arial"/>
              </a:rPr>
              <a:t>MVP DASHBOARD — SMART HOSPITAL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3977639" cy="2743200"/>
          </a:xfrm>
          <a:prstGeom prst="roundRect">
            <a:avLst>
              <a:gd name="adj" fmla="val 6000"/>
            </a:avLst>
          </a:prstGeom>
          <a:solidFill>
            <a:srgbClr val="060C1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36576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 spc="50" dirty="0">
                <a:solidFill>
                  <a:srgbClr val="8692A6"/>
                </a:solidFill>
                <a:latin typeface="Arial"/>
              </a:rPr>
              <a:t>INFRASTRUCTURE MAP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371600" y="2788920"/>
            <a:ext cx="914400" cy="274320"/>
          </a:xfrm>
          <a:prstGeom prst="line">
            <a:avLst/>
          </a:prstGeom>
          <a:ln w="1270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286000" y="2788920"/>
            <a:ext cx="822960" cy="320040"/>
          </a:xfrm>
          <a:prstGeom prst="line">
            <a:avLst/>
          </a:prstGeom>
          <a:ln w="1270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965960" y="2788920"/>
            <a:ext cx="320040" cy="731520"/>
          </a:xfrm>
          <a:prstGeom prst="line">
            <a:avLst/>
          </a:prstGeom>
          <a:ln w="1270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65960" y="3520440"/>
            <a:ext cx="914400" cy="182880"/>
          </a:xfrm>
          <a:prstGeom prst="line">
            <a:avLst/>
          </a:prstGeom>
          <a:ln w="1270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0" y="3108960"/>
            <a:ext cx="731520" cy="274320"/>
          </a:xfrm>
          <a:prstGeom prst="line">
            <a:avLst/>
          </a:prstGeom>
          <a:ln w="1270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880360" y="3383280"/>
            <a:ext cx="960120" cy="320040"/>
          </a:xfrm>
          <a:prstGeom prst="line">
            <a:avLst/>
          </a:prstGeom>
          <a:ln w="1270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71600" y="2788920"/>
            <a:ext cx="914400" cy="274320"/>
          </a:xfrm>
          <a:prstGeom prst="line">
            <a:avLst/>
          </a:prstGeom>
          <a:ln w="22225">
            <a:solidFill>
              <a:srgbClr val="E14B4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2788920"/>
            <a:ext cx="822960" cy="320040"/>
          </a:xfrm>
          <a:prstGeom prst="line">
            <a:avLst/>
          </a:prstGeom>
          <a:ln w="22225">
            <a:solidFill>
              <a:srgbClr val="E14B4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316736" y="3008376"/>
            <a:ext cx="109728" cy="109728"/>
          </a:xfrm>
          <a:prstGeom prst="ellipse">
            <a:avLst/>
          </a:prstGeom>
          <a:solidFill>
            <a:srgbClr val="3D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31136" y="2734056"/>
            <a:ext cx="109728" cy="109728"/>
          </a:xfrm>
          <a:prstGeom prst="ellipse">
            <a:avLst/>
          </a:prstGeom>
          <a:solidFill>
            <a:srgbClr val="3D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054096" y="3054096"/>
            <a:ext cx="109728" cy="109728"/>
          </a:xfrm>
          <a:prstGeom prst="ellipse">
            <a:avLst/>
          </a:prstGeom>
          <a:solidFill>
            <a:srgbClr val="E1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11095" y="3465576"/>
            <a:ext cx="109728" cy="109728"/>
          </a:xfrm>
          <a:prstGeom prst="ellipse">
            <a:avLst/>
          </a:prstGeom>
          <a:solidFill>
            <a:srgbClr val="3D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825496" y="3648456"/>
            <a:ext cx="109728" cy="109728"/>
          </a:xfrm>
          <a:prstGeom prst="ellipse">
            <a:avLst/>
          </a:prstGeom>
          <a:solidFill>
            <a:srgbClr val="3D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785616" y="3328416"/>
            <a:ext cx="109728" cy="109728"/>
          </a:xfrm>
          <a:prstGeom prst="ellipse">
            <a:avLst/>
          </a:prstGeom>
          <a:solidFill>
            <a:srgbClr val="3D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3145536"/>
            <a:ext cx="13716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 dirty="0">
                <a:solidFill>
                  <a:srgbClr val="E14B4B"/>
                </a:solidFill>
                <a:latin typeface="Arial"/>
              </a:rPr>
              <a:t>Critical 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1A1200"/>
          </a:solidFill>
          <a:ln w="1270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656302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 i="0" dirty="0">
                <a:solidFill>
                  <a:srgbClr val="8692A6"/>
                </a:solidFill>
                <a:latin typeface="Arial"/>
              </a:rPr>
              <a:t>RISK  </a:t>
            </a:r>
            <a:r>
              <a:rPr sz="1400" b="1" i="0" dirty="0">
                <a:solidFill>
                  <a:srgbClr val="C8A74B"/>
                </a:solidFill>
                <a:latin typeface="Arial"/>
              </a:rPr>
              <a:t>78/100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4572000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270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34640" y="4656302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 i="0" dirty="0">
                <a:solidFill>
                  <a:srgbClr val="8692A6"/>
                </a:solidFill>
                <a:latin typeface="Arial"/>
              </a:rPr>
              <a:t>THREATS  </a:t>
            </a:r>
            <a:r>
              <a:rPr sz="1400" b="1" i="0" dirty="0">
                <a:solidFill>
                  <a:srgbClr val="5DE0E0"/>
                </a:solidFill>
                <a:latin typeface="Arial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2286000"/>
            <a:ext cx="4160520" cy="804672"/>
          </a:xfrm>
          <a:prstGeom prst="roundRect">
            <a:avLst>
              <a:gd name="adj" fmla="val 7000"/>
            </a:avLst>
          </a:prstGeom>
          <a:solidFill>
            <a:srgbClr val="060C1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0" y="2359152"/>
            <a:ext cx="3886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 spc="50" dirty="0">
                <a:solidFill>
                  <a:srgbClr val="8692A6"/>
                </a:solidFill>
                <a:latin typeface="Arial"/>
              </a:rPr>
              <a:t>ATTACK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615184"/>
            <a:ext cx="3886200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FFFFFF"/>
                </a:solidFill>
                <a:latin typeface="Arial"/>
              </a:rPr>
              <a:t>Nurse Station PC → Admin Server → Patient DB → Monitoring System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3172968"/>
            <a:ext cx="4160520" cy="804672"/>
          </a:xfrm>
          <a:prstGeom prst="roundRect">
            <a:avLst>
              <a:gd name="adj" fmla="val 7000"/>
            </a:avLst>
          </a:prstGeom>
          <a:solidFill>
            <a:srgbClr val="060C1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0640" y="3273552"/>
            <a:ext cx="3886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 spc="50" dirty="0">
                <a:solidFill>
                  <a:srgbClr val="8692A6"/>
                </a:solidFill>
                <a:latin typeface="Arial"/>
              </a:rPr>
              <a:t>CRITICAL ASSETS AT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439770"/>
            <a:ext cx="3886200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FFFFFF"/>
                </a:solidFill>
                <a:latin typeface="Arial"/>
              </a:rPr>
              <a:t>Patient Records DB · Monitoring System · Admin Server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4114800"/>
            <a:ext cx="4160520" cy="804672"/>
          </a:xfrm>
          <a:prstGeom prst="roundRect">
            <a:avLst>
              <a:gd name="adj" fmla="val 7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0640" y="4187952"/>
            <a:ext cx="3886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spc="50" dirty="0">
                <a:solidFill>
                  <a:srgbClr val="5DE0E0"/>
                </a:solidFill>
                <a:latin typeface="Arial"/>
              </a:rPr>
              <a:t>RECOMMENDED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383402"/>
            <a:ext cx="3886200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FFFFFF"/>
                </a:solidFill>
                <a:latin typeface="Arial"/>
              </a:rPr>
              <a:t>Isolate Nurse Station PC — blocks the simulated path with low service impact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5029200"/>
            <a:ext cx="4160520" cy="658368"/>
          </a:xfrm>
          <a:prstGeom prst="roundRect">
            <a:avLst>
              <a:gd name="adj" fmla="val 7000"/>
            </a:avLst>
          </a:prstGeom>
          <a:solidFill>
            <a:srgbClr val="060C1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0" y="510235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 spc="50">
                <a:solidFill>
                  <a:srgbClr val="8692A6"/>
                </a:solidFill>
                <a:latin typeface="Arial"/>
              </a:rPr>
              <a:t>RECOVERY STATUS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5394960"/>
            <a:ext cx="2743200" cy="109728"/>
          </a:xfrm>
          <a:prstGeom prst="rect">
            <a:avLst/>
          </a:prstGeom>
          <a:solidFill>
            <a:srgbClr val="13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120640" y="5394960"/>
            <a:ext cx="1965960" cy="109728"/>
          </a:xfrm>
          <a:prstGeom prst="rect">
            <a:avLst/>
          </a:prstGeom>
          <a:solidFill>
            <a:srgbClr val="3D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01000" y="532180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5DE0E0"/>
                </a:solidFill>
                <a:latin typeface="Arial"/>
              </a:rPr>
              <a:t>72%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833872"/>
            <a:ext cx="8778240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1" dirty="0">
                <a:solidFill>
                  <a:srgbClr val="8692A6"/>
                </a:solidFill>
                <a:latin typeface="Arial"/>
              </a:rPr>
              <a:t>Scenario: a phishing email on a nurse-station PC triggers the response below.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09 / 14</a:t>
            </a:r>
          </a:p>
        </p:txBody>
      </p:sp>
      <p:sp>
        <p:nvSpPr>
          <p:cNvPr id="44" name="Rounded Rectangle 44"/>
          <p:cNvSpPr/>
          <p:nvPr/>
        </p:nvSpPr>
        <p:spPr>
          <a:xfrm>
            <a:off x="822960" y="6180000"/>
            <a:ext cx="2050000" cy="43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822960" y="6302667"/>
            <a:ext cx="2050000" cy="184666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FFFFFF"/>
                </a:solidFill>
                <a:latin typeface="Arial"/>
              </a:rPr>
              <a:t>Phishing Email</a:t>
            </a:r>
          </a:p>
        </p:txBody>
      </p:sp>
      <p:cxnSp>
        <p:nvCxnSpPr>
          <p:cNvPr id="46" name="Connector 46"/>
          <p:cNvCxnSpPr/>
          <p:nvPr/>
        </p:nvCxnSpPr>
        <p:spPr>
          <a:xfrm>
            <a:off x="2872960" y="6395000"/>
            <a:ext cx="10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7"/>
          <p:cNvSpPr/>
          <p:nvPr/>
        </p:nvSpPr>
        <p:spPr>
          <a:xfrm>
            <a:off x="2972960" y="6180000"/>
            <a:ext cx="2050000" cy="43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2972960" y="6302667"/>
            <a:ext cx="2050000" cy="184666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FFFFFF"/>
                </a:solidFill>
                <a:latin typeface="Arial"/>
              </a:rPr>
              <a:t>Path Traced</a:t>
            </a:r>
          </a:p>
        </p:txBody>
      </p:sp>
      <p:cxnSp>
        <p:nvCxnSpPr>
          <p:cNvPr id="49" name="Connector 49"/>
          <p:cNvCxnSpPr/>
          <p:nvPr/>
        </p:nvCxnSpPr>
        <p:spPr>
          <a:xfrm>
            <a:off x="5022960" y="6395000"/>
            <a:ext cx="10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50"/>
          <p:cNvSpPr/>
          <p:nvPr/>
        </p:nvSpPr>
        <p:spPr>
          <a:xfrm>
            <a:off x="5122960" y="6180000"/>
            <a:ext cx="2050000" cy="43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5122960" y="6302667"/>
            <a:ext cx="2050000" cy="184666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FFFFFF"/>
                </a:solidFill>
                <a:latin typeface="Arial"/>
              </a:rPr>
              <a:t>Endpoint Isolated</a:t>
            </a:r>
          </a:p>
        </p:txBody>
      </p:sp>
      <p:cxnSp>
        <p:nvCxnSpPr>
          <p:cNvPr id="52" name="Connector 52"/>
          <p:cNvCxnSpPr/>
          <p:nvPr/>
        </p:nvCxnSpPr>
        <p:spPr>
          <a:xfrm>
            <a:off x="7172960" y="6395000"/>
            <a:ext cx="10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3"/>
          <p:cNvSpPr/>
          <p:nvPr/>
        </p:nvSpPr>
        <p:spPr>
          <a:xfrm>
            <a:off x="7272960" y="6180000"/>
            <a:ext cx="2050000" cy="43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7272960" y="6302667"/>
            <a:ext cx="2050000" cy="184666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FFFFFF"/>
                </a:solidFill>
                <a:latin typeface="Arial"/>
              </a:rPr>
              <a:t>Service Recovered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76022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32150" y="840333"/>
            <a:ext cx="4619548" cy="671169"/>
          </a:xfrm>
          <a:prstGeom prst="roundRect">
            <a:avLst>
              <a:gd name="adj" fmla="val 12000"/>
            </a:avLst>
          </a:prstGeom>
          <a:solidFill>
            <a:srgbClr val="0A1123"/>
          </a:solidFill>
          <a:ln w="15875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32150" y="840333"/>
            <a:ext cx="4619548" cy="6711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 spc="100">
                <a:solidFill>
                  <a:srgbClr val="FFFFFF"/>
                </a:solidFill>
                <a:latin typeface="Arial"/>
              </a:rPr>
              <a:t>WE'RE NOT COMPETING ON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spc="100" dirty="0">
                <a:solidFill>
                  <a:srgbClr val="8692A6"/>
                </a:solidFill>
                <a:latin typeface="Arial"/>
              </a:rPr>
              <a:t>WHAT DRAGOS / CLAROTY / NOZOMI DO 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1323" y="2295594"/>
            <a:ext cx="1509106" cy="685789"/>
          </a:xfrm>
          <a:prstGeom prst="roundRect">
            <a:avLst>
              <a:gd name="adj" fmla="val 10000"/>
            </a:avLst>
          </a:prstGeom>
          <a:solidFill>
            <a:srgbClr val="17120A"/>
          </a:solidFill>
          <a:ln w="1270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651760" y="2521314"/>
            <a:ext cx="1318669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 dirty="0">
                <a:solidFill>
                  <a:srgbClr val="F0C878"/>
                </a:solidFill>
                <a:latin typeface="Arial"/>
              </a:rPr>
              <a:t>Visibility</a:t>
            </a:r>
          </a:p>
        </p:txBody>
      </p:sp>
      <p:cxnSp>
        <p:nvCxnSpPr>
          <p:cNvPr id="9" name="Connector 8"/>
          <p:cNvCxnSpPr>
            <a:cxnSpLocks/>
            <a:stCxn id="8" idx="3"/>
          </p:cNvCxnSpPr>
          <p:nvPr/>
        </p:nvCxnSpPr>
        <p:spPr>
          <a:xfrm>
            <a:off x="3970429" y="2617494"/>
            <a:ext cx="422915" cy="0"/>
          </a:xfrm>
          <a:prstGeom prst="line">
            <a:avLst/>
          </a:prstGeom>
          <a:ln w="15875">
            <a:solidFill>
              <a:srgbClr val="869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93344" y="2265500"/>
            <a:ext cx="1509107" cy="706287"/>
          </a:xfrm>
          <a:prstGeom prst="roundRect">
            <a:avLst>
              <a:gd name="adj" fmla="val 10000"/>
            </a:avLst>
          </a:prstGeom>
          <a:solidFill>
            <a:srgbClr val="17120A"/>
          </a:solidFill>
          <a:ln w="1270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2489174"/>
            <a:ext cx="14173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0C878"/>
                </a:solidFill>
                <a:latin typeface="Arial"/>
              </a:rPr>
              <a:t>Detection</a:t>
            </a:r>
          </a:p>
        </p:txBody>
      </p:sp>
      <p:cxnSp>
        <p:nvCxnSpPr>
          <p:cNvPr id="12" name="Connector 11"/>
          <p:cNvCxnSpPr>
            <a:cxnSpLocks/>
            <a:endCxn id="14" idx="1"/>
          </p:cNvCxnSpPr>
          <p:nvPr/>
        </p:nvCxnSpPr>
        <p:spPr>
          <a:xfrm>
            <a:off x="5902452" y="2617494"/>
            <a:ext cx="383646" cy="0"/>
          </a:xfrm>
          <a:prstGeom prst="line">
            <a:avLst/>
          </a:prstGeom>
          <a:ln w="15875">
            <a:solidFill>
              <a:srgbClr val="869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25960" y="2285999"/>
            <a:ext cx="1592456" cy="685789"/>
          </a:xfrm>
          <a:prstGeom prst="roundRect">
            <a:avLst>
              <a:gd name="adj" fmla="val 10000"/>
            </a:avLst>
          </a:prstGeom>
          <a:solidFill>
            <a:srgbClr val="17120A"/>
          </a:solidFill>
          <a:ln w="1270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6098" y="2509772"/>
            <a:ext cx="14173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0C878"/>
                </a:solidFill>
                <a:latin typeface="Arial"/>
              </a:rPr>
              <a:t>Alerting</a:t>
            </a:r>
          </a:p>
        </p:txBody>
      </p:sp>
      <p:cxnSp>
        <p:nvCxnSpPr>
          <p:cNvPr id="15" name="Connector 14"/>
          <p:cNvCxnSpPr>
            <a:cxnSpLocks/>
            <a:endCxn id="17" idx="1"/>
          </p:cNvCxnSpPr>
          <p:nvPr/>
        </p:nvCxnSpPr>
        <p:spPr>
          <a:xfrm flipV="1">
            <a:off x="7818416" y="2628898"/>
            <a:ext cx="350392" cy="854"/>
          </a:xfrm>
          <a:prstGeom prst="line">
            <a:avLst/>
          </a:prstGeom>
          <a:ln w="15875">
            <a:solidFill>
              <a:srgbClr val="8692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08992" y="2285999"/>
            <a:ext cx="1620808" cy="731517"/>
          </a:xfrm>
          <a:prstGeom prst="roundRect">
            <a:avLst>
              <a:gd name="adj" fmla="val 10000"/>
            </a:avLst>
          </a:prstGeom>
          <a:solidFill>
            <a:srgbClr val="17120A"/>
          </a:solidFill>
          <a:ln w="1270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8808" y="2521176"/>
            <a:ext cx="169687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0C878"/>
                </a:solidFill>
                <a:latin typeface="Arial"/>
              </a:rPr>
              <a:t>Single-Environment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8256" y="3188909"/>
            <a:ext cx="8961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 dirty="0">
                <a:solidFill>
                  <a:srgbClr val="8692A6"/>
                </a:solidFill>
                <a:latin typeface="Arial"/>
              </a:rPr>
              <a:t>Deep OT protocol coverage and threat intelligence — typically focused on specific operational environments.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611880"/>
            <a:ext cx="8961120" cy="0"/>
          </a:xfrm>
          <a:prstGeom prst="line">
            <a:avLst/>
          </a:prstGeom>
          <a:ln w="12700">
            <a:solidFill>
              <a:srgbClr val="1B2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379476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spc="100" dirty="0">
                <a:solidFill>
                  <a:srgbClr val="5DE0E0"/>
                </a:solidFill>
                <a:latin typeface="Arial"/>
              </a:rPr>
              <a:t>WHAT </a:t>
            </a:r>
            <a:r>
              <a:rPr lang="en-IN" sz="1600" b="1" spc="100" dirty="0">
                <a:solidFill>
                  <a:srgbClr val="5DE0E0"/>
                </a:solidFill>
                <a:latin typeface="Arial"/>
              </a:rPr>
              <a:t>CASCADIA</a:t>
            </a:r>
            <a:r>
              <a:rPr sz="1600" b="1" i="0" spc="100" dirty="0">
                <a:solidFill>
                  <a:srgbClr val="5DE0E0"/>
                </a:solidFill>
                <a:latin typeface="Arial"/>
              </a:rPr>
              <a:t> ADDS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755648" cy="658368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473422"/>
            <a:ext cx="17556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Cross-Sector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78608" y="4581144"/>
            <a:ext cx="146304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24912" y="4251960"/>
            <a:ext cx="1755648" cy="658368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24912" y="4473422"/>
            <a:ext cx="17556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Contextual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80560" y="4581144"/>
            <a:ext cx="146304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626864" y="4251960"/>
            <a:ext cx="1755648" cy="658368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26864" y="4473422"/>
            <a:ext cx="17556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Simulated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82512" y="4581144"/>
            <a:ext cx="146304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528816" y="4251960"/>
            <a:ext cx="1755648" cy="658368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28816" y="4473422"/>
            <a:ext cx="17556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Human-Led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84464" y="4581144"/>
            <a:ext cx="146304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430768" y="4251960"/>
            <a:ext cx="1677873" cy="658368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30768" y="4473422"/>
            <a:ext cx="175564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Sector-Agnostic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8961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 dirty="0">
                <a:solidFill>
                  <a:srgbClr val="5DE0E0"/>
                </a:solidFill>
                <a:latin typeface="Arial"/>
              </a:rPr>
              <a:t>A decision-support layer on top of existing detection — modeling cascade risk and comparing response options by security benefit and operational impact.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72792" y="6013421"/>
            <a:ext cx="3931869" cy="843253"/>
          </a:xfrm>
          <a:prstGeom prst="roundRect">
            <a:avLst>
              <a:gd name="adj" fmla="val 50000"/>
            </a:avLst>
          </a:prstGeom>
          <a:solidFill>
            <a:srgbClr val="0A1123"/>
          </a:solidFill>
          <a:ln w="12700">
            <a:solidFill>
              <a:srgbClr val="E1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28563" y="6222228"/>
            <a:ext cx="3620326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i="0" spc="50" dirty="0">
                <a:solidFill>
                  <a:srgbClr val="E14B4B"/>
                </a:solidFill>
                <a:latin typeface="Arial"/>
              </a:rPr>
              <a:t>WE INTEGRATE WITH EXISTING TOOLS </a:t>
            </a:r>
            <a:endParaRPr lang="en-IN" sz="1400" spc="50" dirty="0">
              <a:solidFill>
                <a:srgbClr val="E14B4B"/>
              </a:solidFill>
              <a:latin typeface="Arial"/>
            </a:endParaRPr>
          </a:p>
          <a:p>
            <a:pPr algn="ctr">
              <a:spcAft>
                <a:spcPts val="200"/>
              </a:spcAft>
            </a:pPr>
            <a:r>
              <a:rPr sz="1400" i="0" spc="50" dirty="0">
                <a:solidFill>
                  <a:srgbClr val="E14B4B"/>
                </a:solidFill>
                <a:latin typeface="Arial"/>
              </a:rPr>
              <a:t> WE DON'T REPLACE THEM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04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32150" y="840333"/>
            <a:ext cx="4619548" cy="671169"/>
          </a:xfrm>
          <a:prstGeom prst="roundRect">
            <a:avLst>
              <a:gd name="adj" fmla="val 12000"/>
            </a:avLst>
          </a:prstGeom>
          <a:solidFill>
            <a:srgbClr val="0A1123"/>
          </a:solidFill>
          <a:ln w="15875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32150" y="1052807"/>
            <a:ext cx="4619548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 spc="100" dirty="0">
                <a:solidFill>
                  <a:srgbClr val="FFFFFF"/>
                </a:solidFill>
                <a:latin typeface="Arial"/>
              </a:rPr>
              <a:t>UNDERSTAND THE ATTACK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961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b="1" i="0" dirty="0">
                <a:solidFill>
                  <a:srgbClr val="5DE0E0"/>
                </a:solidFill>
                <a:latin typeface="Arial"/>
              </a:rPr>
              <a:t>OUR USP: CONTEXT-AWARE ATTACK-PATH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1874519" cy="77724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04058"/>
            <a:ext cx="187451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Endpoint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79" y="2811779"/>
            <a:ext cx="347472" cy="0"/>
          </a:xfrm>
          <a:prstGeom prst="line">
            <a:avLst/>
          </a:prstGeom>
          <a:ln w="2540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4951" y="2423160"/>
            <a:ext cx="1874519" cy="77724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1" y="2704058"/>
            <a:ext cx="187451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Admin Server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1" y="2811779"/>
            <a:ext cx="347472" cy="0"/>
          </a:xfrm>
          <a:prstGeom prst="line">
            <a:avLst/>
          </a:prstGeom>
          <a:ln w="2540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66944" y="2423160"/>
            <a:ext cx="1874519" cy="77724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66944" y="2704058"/>
            <a:ext cx="187451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41464" y="2811779"/>
            <a:ext cx="347472" cy="0"/>
          </a:xfrm>
          <a:prstGeom prst="line">
            <a:avLst/>
          </a:prstGeom>
          <a:ln w="2540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88936" y="2423160"/>
            <a:ext cx="1874519" cy="777240"/>
          </a:xfrm>
          <a:prstGeom prst="roundRect">
            <a:avLst>
              <a:gd name="adj" fmla="val 9000"/>
            </a:avLst>
          </a:prstGeom>
          <a:solidFill>
            <a:srgbClr val="2A1010"/>
          </a:solidFill>
          <a:ln w="22225">
            <a:solidFill>
              <a:srgbClr val="E1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88936" y="2704058"/>
            <a:ext cx="187451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Critical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8961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 dirty="0">
                <a:solidFill>
                  <a:srgbClr val="8692A6"/>
                </a:solidFill>
                <a:latin typeface="Arial"/>
              </a:rPr>
              <a:t>A single low-severity alert on an endpoint matters more once the path to a critical service is visible.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840480"/>
            <a:ext cx="8869680" cy="0"/>
          </a:xfrm>
          <a:prstGeom prst="line">
            <a:avLst/>
          </a:prstGeom>
          <a:ln w="12700">
            <a:solidFill>
              <a:srgbClr val="1B2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4114800"/>
            <a:ext cx="1572768" cy="7772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287977"/>
            <a:ext cx="157276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AEB9CC"/>
                </a:solidFill>
                <a:latin typeface="Arial"/>
              </a:rPr>
              <a:t>Asset</a:t>
            </a:r>
          </a:p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AEB9CC"/>
                </a:solidFill>
                <a:latin typeface="Arial"/>
              </a:rPr>
              <a:t>Criticality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96896" y="4114800"/>
            <a:ext cx="1572768" cy="7772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96896" y="4287977"/>
            <a:ext cx="157276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AEB9CC"/>
                </a:solidFill>
                <a:latin typeface="Arial"/>
              </a:rPr>
              <a:t>Vulnerability</a:t>
            </a:r>
          </a:p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AEB9CC"/>
                </a:solidFill>
                <a:latin typeface="Arial"/>
              </a:rPr>
              <a:t>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1" y="4114800"/>
            <a:ext cx="1572768" cy="7772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0831" y="4287977"/>
            <a:ext cx="157276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AEB9CC"/>
                </a:solidFill>
                <a:latin typeface="Arial"/>
              </a:rPr>
              <a:t>Behavioral</a:t>
            </a:r>
          </a:p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AEB9CC"/>
                </a:solidFill>
                <a:latin typeface="Arial"/>
              </a:rPr>
              <a:t>Signals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7" y="4114800"/>
            <a:ext cx="1572768" cy="7772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4767" y="4287977"/>
            <a:ext cx="1572768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AEB9CC"/>
                </a:solidFill>
                <a:latin typeface="Arial"/>
              </a:rPr>
              <a:t>Network</a:t>
            </a:r>
          </a:p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AEB9CC"/>
                </a:solidFill>
                <a:latin typeface="Arial"/>
              </a:rPr>
              <a:t>Reachability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09344" y="4892040"/>
            <a:ext cx="0" cy="13716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83279" y="4892040"/>
            <a:ext cx="0" cy="13716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57216" y="4892040"/>
            <a:ext cx="0" cy="13716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31151" y="4892040"/>
            <a:ext cx="0" cy="13716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09344" y="5029200"/>
            <a:ext cx="5321807" cy="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09360" y="5029200"/>
            <a:ext cx="0" cy="201168"/>
          </a:xfrm>
          <a:prstGeom prst="line">
            <a:avLst/>
          </a:prstGeom>
          <a:ln w="1905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37760" y="5257800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1A1200"/>
          </a:solidFill>
          <a:ln w="1905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0" y="5460974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spc="50" dirty="0">
                <a:solidFill>
                  <a:srgbClr val="C8A74B"/>
                </a:solidFill>
                <a:latin typeface="Arial"/>
              </a:rPr>
              <a:t>CONTEXTUAL RISK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371953" y="840333"/>
            <a:ext cx="6035040" cy="671169"/>
          </a:xfrm>
          <a:prstGeom prst="roundRect">
            <a:avLst>
              <a:gd name="adj" fmla="val 12000"/>
            </a:avLst>
          </a:prstGeom>
          <a:solidFill>
            <a:srgbClr val="0A1123"/>
          </a:solidFill>
          <a:ln w="15875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1953" y="1037418"/>
            <a:ext cx="60350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b="1" i="0" spc="100" dirty="0">
                <a:solidFill>
                  <a:srgbClr val="FFFFFF"/>
                </a:solidFill>
                <a:latin typeface="Arial"/>
              </a:rPr>
              <a:t>“WHAT IF?” RESPONSE 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846320" cy="310896"/>
          </a:xfrm>
          <a:prstGeom prst="roundRect">
            <a:avLst>
              <a:gd name="adj" fmla="val 50000"/>
            </a:avLst>
          </a:prstGeom>
          <a:solidFill>
            <a:srgbClr val="0A1123"/>
          </a:solidFill>
          <a:ln w="12700">
            <a:solidFill>
              <a:srgbClr val="E1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91915"/>
            <a:ext cx="48463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spc="50" dirty="0">
                <a:solidFill>
                  <a:srgbClr val="E14B4B"/>
                </a:solidFill>
                <a:latin typeface="Arial"/>
              </a:rPr>
              <a:t>DETECTED THREAT: Lateral movement toward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3108960" cy="2331720"/>
          </a:xfrm>
          <a:prstGeom prst="roundRect">
            <a:avLst>
              <a:gd name="adj" fmla="val 8000"/>
            </a:avLst>
          </a:prstGeom>
          <a:solidFill>
            <a:srgbClr val="07211F"/>
          </a:solidFill>
          <a:ln w="2222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56032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A1123"/>
          </a:solidFill>
          <a:ln w="1270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620536"/>
            <a:ext cx="1417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 spc="50" dirty="0">
                <a:solidFill>
                  <a:srgbClr val="3DCFCF"/>
                </a:solidFill>
                <a:latin typeface="Arial"/>
              </a:rPr>
              <a:t>RECOMMENDED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44368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Isolate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55848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8692A6"/>
                </a:solidFill>
                <a:latin typeface="Arial"/>
              </a:rPr>
              <a:t>Security benefit:  </a:t>
            </a:r>
            <a:r>
              <a:rPr sz="1400" b="1" i="0" dirty="0">
                <a:solidFill>
                  <a:srgbClr val="5DE0E0"/>
                </a:solidFill>
                <a:latin typeface="Arial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48456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8692A6"/>
                </a:solidFill>
                <a:latin typeface="Arial"/>
              </a:rPr>
              <a:t>Operational impact:  </a:t>
            </a:r>
            <a:r>
              <a:rPr sz="1400" b="1" i="0" dirty="0">
                <a:solidFill>
                  <a:srgbClr val="5DE0E0"/>
                </a:solidFill>
                <a:latin typeface="Arial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22776"/>
            <a:ext cx="2743200" cy="692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Blocks spread immediately; minimal disruption to hospital operations.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377440"/>
            <a:ext cx="3108960" cy="23317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25603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Restrict Admin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97180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8692A6"/>
                </a:solidFill>
                <a:latin typeface="Arial"/>
              </a:rPr>
              <a:t>Security benefit:  </a:t>
            </a:r>
            <a:r>
              <a:rPr sz="1400" b="1" i="0" dirty="0">
                <a:solidFill>
                  <a:srgbClr val="5DE0E0"/>
                </a:solidFill>
                <a:latin typeface="Arial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64408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8692A6"/>
                </a:solidFill>
                <a:latin typeface="Arial"/>
              </a:rPr>
              <a:t>Operational impact:  </a:t>
            </a:r>
            <a:r>
              <a:rPr sz="1400" b="1" i="0" dirty="0">
                <a:solidFill>
                  <a:srgbClr val="C8A74B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630168"/>
            <a:ext cx="2743200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Slows the threat but admin staff temporarily lose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37744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19" y="25603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Shut Down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97180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8692A6"/>
                </a:solidFill>
                <a:latin typeface="Arial"/>
              </a:rPr>
              <a:t>Security benefit:  </a:t>
            </a:r>
            <a:r>
              <a:rPr sz="1400" b="1" i="0" dirty="0">
                <a:solidFill>
                  <a:srgbClr val="5DE0E0"/>
                </a:solidFill>
                <a:latin typeface="Arial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3264408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8692A6"/>
                </a:solidFill>
                <a:latin typeface="Arial"/>
              </a:rPr>
              <a:t>Operational impact:  </a:t>
            </a:r>
            <a:r>
              <a:rPr sz="1400" b="1" i="0" dirty="0">
                <a:solidFill>
                  <a:srgbClr val="E14B4B"/>
                </a:solidFill>
                <a:latin typeface="Arial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3630168"/>
            <a:ext cx="2743200" cy="692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Stops the threat fully,</a:t>
            </a:r>
            <a:endParaRPr lang="en-IN" sz="1400" b="0" i="0" dirty="0">
              <a:solidFill>
                <a:srgbClr val="AEB9CC"/>
              </a:solidFill>
              <a:latin typeface="Arial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 but critical patient records become unavailable.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8961120" cy="47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1" dirty="0">
                <a:solidFill>
                  <a:srgbClr val="8692A6"/>
                </a:solidFill>
                <a:latin typeface="Arial"/>
              </a:rPr>
              <a:t>Simulation and recommendation shown in the MVP dashboard — </a:t>
            </a:r>
            <a:r>
              <a:rPr lang="en-IN" sz="1400" b="0" i="1" dirty="0">
                <a:solidFill>
                  <a:srgbClr val="8692A6"/>
                </a:solidFill>
                <a:latin typeface="Arial"/>
              </a:rPr>
              <a:t>CASCADIA </a:t>
            </a:r>
            <a:r>
              <a:rPr sz="1400" b="0" i="1" dirty="0">
                <a:solidFill>
                  <a:srgbClr val="8692A6"/>
                </a:solidFill>
                <a:latin typeface="Arial"/>
              </a:rPr>
              <a:t>advises the safest option; it does not act autonomously on real infrastructure.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07 / 14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2960" y="5500000"/>
            <a:ext cx="6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5DE0E0"/>
                </a:solidFill>
                <a:latin typeface="Arial"/>
              </a:rPr>
              <a:t>DECISION FLOW</a:t>
            </a:r>
          </a:p>
        </p:txBody>
      </p:sp>
      <p:sp>
        <p:nvSpPr>
          <p:cNvPr id="28" name="Rounded Rectangle 28"/>
          <p:cNvSpPr/>
          <p:nvPr/>
        </p:nvSpPr>
        <p:spPr>
          <a:xfrm>
            <a:off x="822960" y="582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2960" y="602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Threat Detected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2971314" y="6130000"/>
            <a:ext cx="15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1"/>
          <p:cNvSpPr/>
          <p:nvPr/>
        </p:nvSpPr>
        <p:spPr>
          <a:xfrm>
            <a:off x="3121314" y="582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3121314" y="602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Options Compared</a:t>
            </a:r>
          </a:p>
        </p:txBody>
      </p:sp>
      <p:cxnSp>
        <p:nvCxnSpPr>
          <p:cNvPr id="33" name="Connector 33"/>
          <p:cNvCxnSpPr/>
          <p:nvPr/>
        </p:nvCxnSpPr>
        <p:spPr>
          <a:xfrm>
            <a:off x="5269668" y="6130000"/>
            <a:ext cx="15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4"/>
          <p:cNvSpPr/>
          <p:nvPr/>
        </p:nvSpPr>
        <p:spPr>
          <a:xfrm>
            <a:off x="5419668" y="582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5419668" y="602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Safest Action Chosen</a:t>
            </a:r>
          </a:p>
        </p:txBody>
      </p:sp>
      <p:cxnSp>
        <p:nvCxnSpPr>
          <p:cNvPr id="36" name="Connector 36"/>
          <p:cNvCxnSpPr/>
          <p:nvPr/>
        </p:nvCxnSpPr>
        <p:spPr>
          <a:xfrm>
            <a:off x="7568022" y="6130000"/>
            <a:ext cx="15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7"/>
          <p:cNvSpPr/>
          <p:nvPr/>
        </p:nvSpPr>
        <p:spPr>
          <a:xfrm>
            <a:off x="7718022" y="582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7718022" y="602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Operator Confirms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371953" y="840333"/>
            <a:ext cx="6035040" cy="671169"/>
          </a:xfrm>
          <a:prstGeom prst="roundRect">
            <a:avLst>
              <a:gd name="adj" fmla="val 12000"/>
            </a:avLst>
          </a:prstGeom>
          <a:solidFill>
            <a:srgbClr val="0A1123"/>
          </a:solidFill>
          <a:ln w="15875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1953" y="1037418"/>
            <a:ext cx="60350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b="1" i="0" spc="100" dirty="0">
                <a:solidFill>
                  <a:srgbClr val="FFFFFF"/>
                </a:solidFill>
                <a:latin typeface="Arial"/>
              </a:rPr>
              <a:t>BUILT FOR TRUST, NOT JUST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846320" cy="564292"/>
          </a:xfrm>
          <a:prstGeom prst="roundRect">
            <a:avLst>
              <a:gd name="adj" fmla="val 50000"/>
            </a:avLst>
          </a:prstGeom>
          <a:solidFill>
            <a:srgbClr val="0A1123"/>
          </a:solidFill>
          <a:ln w="12700">
            <a:solidFill>
              <a:srgbClr val="E1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68805"/>
            <a:ext cx="48463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i="0" spc="50" dirty="0">
                <a:solidFill>
                  <a:srgbClr val="E14B4B"/>
                </a:solidFill>
                <a:latin typeface="Arial"/>
              </a:rPr>
              <a:t>THREE PRINCIPLES BEHIND EVERY </a:t>
            </a:r>
            <a:r>
              <a:rPr lang="en-IN" sz="1400" spc="50" dirty="0">
                <a:solidFill>
                  <a:srgbClr val="E14B4B"/>
                </a:solidFill>
                <a:latin typeface="Arial"/>
              </a:rPr>
              <a:t>CASCA</a:t>
            </a:r>
            <a:r>
              <a:rPr sz="1400" i="0" spc="50" dirty="0">
                <a:solidFill>
                  <a:srgbClr val="E14B4B"/>
                </a:solidFill>
                <a:latin typeface="Arial"/>
              </a:rPr>
              <a:t>D</a:t>
            </a:r>
            <a:r>
              <a:rPr lang="en-IN" sz="1400" i="0" spc="50" dirty="0">
                <a:solidFill>
                  <a:srgbClr val="E14B4B"/>
                </a:solidFill>
                <a:latin typeface="Arial"/>
              </a:rPr>
              <a:t>IA</a:t>
            </a:r>
            <a:r>
              <a:rPr sz="1400" i="0" spc="50" dirty="0">
                <a:solidFill>
                  <a:srgbClr val="E14B4B"/>
                </a:solidFill>
                <a:latin typeface="Arial"/>
              </a:rPr>
              <a:t>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3108960" cy="2331720"/>
          </a:xfrm>
          <a:prstGeom prst="roundRect">
            <a:avLst>
              <a:gd name="adj" fmla="val 8000"/>
            </a:avLst>
          </a:prstGeom>
          <a:solidFill>
            <a:srgbClr val="07211F"/>
          </a:solidFill>
          <a:ln w="2222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56032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A1123"/>
          </a:solidFill>
          <a:ln w="1270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 i="0" spc="50">
                <a:solidFill>
                  <a:srgbClr val="3DCFCF"/>
                </a:solidFill>
                <a:latin typeface="Arial"/>
              </a:rPr>
              <a:t>ALWAYS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44368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55848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8692A6"/>
                </a:solidFill>
                <a:latin typeface="Arial"/>
              </a:rPr>
              <a:t>Who decides:  </a:t>
            </a:r>
            <a:r>
              <a:rPr sz="1200" b="1" i="0" dirty="0">
                <a:solidFill>
                  <a:srgbClr val="5DE0E0"/>
                </a:solidFill>
                <a:latin typeface="Arial"/>
              </a:rPr>
              <a:t>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48456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1200" dirty="0">
                <a:solidFill>
                  <a:srgbClr val="8692A6"/>
                </a:solidFill>
                <a:latin typeface="Arial"/>
              </a:rPr>
              <a:t>CASCADIA</a:t>
            </a:r>
            <a:r>
              <a:rPr sz="1200" b="0" i="0" dirty="0">
                <a:solidFill>
                  <a:srgbClr val="8692A6"/>
                </a:solidFill>
                <a:latin typeface="Arial"/>
              </a:rPr>
              <a:t> acts:  </a:t>
            </a:r>
            <a:r>
              <a:rPr sz="1200" b="1" i="0" dirty="0">
                <a:solidFill>
                  <a:srgbClr val="5DE0E0"/>
                </a:solidFill>
                <a:latin typeface="Arial"/>
              </a:rPr>
              <a:t>Never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14216"/>
            <a:ext cx="2743200" cy="390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 dirty="0">
                <a:solidFill>
                  <a:srgbClr val="AEB9CC"/>
                </a:solidFill>
                <a:latin typeface="Arial"/>
              </a:rPr>
              <a:t>Recommends isolate, restrict, or escalate — but a human operator makes the final call, every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377440"/>
            <a:ext cx="3108960" cy="23317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25603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No Cross-Org Data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97180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8692A6"/>
                </a:solidFill>
                <a:latin typeface="Arial"/>
              </a:rPr>
              <a:t>Each org keeps:  </a:t>
            </a:r>
            <a:r>
              <a:rPr sz="1200" b="1" i="0" dirty="0">
                <a:solidFill>
                  <a:srgbClr val="5DE0E0"/>
                </a:solidFill>
                <a:latin typeface="Arial"/>
              </a:rPr>
              <a:t>Own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264408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8692A6"/>
                </a:solidFill>
                <a:latin typeface="Arial"/>
              </a:rPr>
              <a:t>Shared across orgs:  </a:t>
            </a:r>
            <a:r>
              <a:rPr sz="1200" b="1" i="0" dirty="0">
                <a:solidFill>
                  <a:srgbClr val="C8A74B"/>
                </a:solidFill>
                <a:latin typeface="Arial"/>
              </a:rPr>
              <a:t>None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630168"/>
            <a:ext cx="2743200" cy="390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 dirty="0">
                <a:solidFill>
                  <a:srgbClr val="AEB9CC"/>
                </a:solidFill>
                <a:latin typeface="Arial"/>
              </a:rPr>
              <a:t>Each organization's instance holds only its own data. Cross-sector risk is modeled through known dependencies, not by pooling another org's live telemetry.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377440"/>
            <a:ext cx="2697480" cy="23317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19" y="25603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Explainable &amp; Auditable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97180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8692A6"/>
                </a:solidFill>
                <a:latin typeface="Arial"/>
              </a:rPr>
              <a:t>Traces to:  </a:t>
            </a:r>
            <a:r>
              <a:rPr sz="1200" b="1" i="0" dirty="0">
                <a:solidFill>
                  <a:srgbClr val="5DE0E0"/>
                </a:solidFill>
                <a:latin typeface="Arial"/>
              </a:rPr>
              <a:t>Source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3264408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8692A6"/>
                </a:solidFill>
                <a:latin typeface="Arial"/>
              </a:rPr>
              <a:t>Hidden logic:  </a:t>
            </a:r>
            <a:r>
              <a:rPr sz="1200" b="1" i="0" dirty="0">
                <a:solidFill>
                  <a:srgbClr val="E14B4B"/>
                </a:solidFill>
                <a:latin typeface="Arial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3630168"/>
            <a:ext cx="2743200" cy="593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 dirty="0">
                <a:solidFill>
                  <a:srgbClr val="AEB9CC"/>
                </a:solidFill>
                <a:latin typeface="Arial"/>
              </a:rPr>
              <a:t>Every score traces back to the</a:t>
            </a:r>
            <a:endParaRPr lang="en-IN" sz="1200" b="0" i="0" dirty="0">
              <a:solidFill>
                <a:srgbClr val="AEB9CC"/>
              </a:solidFill>
              <a:latin typeface="Arial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 dirty="0">
                <a:solidFill>
                  <a:srgbClr val="AEB9CC"/>
                </a:solidFill>
                <a:latin typeface="Arial"/>
              </a:rPr>
              <a:t> specific assets, signals, and</a:t>
            </a:r>
            <a:endParaRPr lang="en-IN" sz="1200" dirty="0">
              <a:solidFill>
                <a:srgbClr val="AEB9CC"/>
              </a:solidFill>
              <a:latin typeface="Arial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 dirty="0">
                <a:solidFill>
                  <a:srgbClr val="AEB9CC"/>
                </a:solidFill>
                <a:latin typeface="Arial"/>
              </a:rPr>
              <a:t> paths that produced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8961120" cy="47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 i="1" dirty="0">
                <a:solidFill>
                  <a:srgbClr val="8692A6"/>
                </a:solidFill>
                <a:latin typeface="Arial"/>
              </a:rPr>
              <a:t>These aren't just good intentions — they're built into how the MVP dashboard works: </a:t>
            </a:r>
            <a:r>
              <a:rPr lang="en-IN" sz="1400" b="0" i="1" dirty="0">
                <a:solidFill>
                  <a:srgbClr val="8692A6"/>
                </a:solidFill>
                <a:latin typeface="Arial"/>
              </a:rPr>
              <a:t>CASCADIA</a:t>
            </a:r>
            <a:r>
              <a:rPr sz="1400" b="0" i="1" dirty="0">
                <a:solidFill>
                  <a:srgbClr val="8692A6"/>
                </a:solidFill>
                <a:latin typeface="Arial"/>
              </a:rPr>
              <a:t> advises the safest option; it never acts autonomously on real infrastructure.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08 / 14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2960" y="5500000"/>
            <a:ext cx="6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5DE0E0"/>
                </a:solidFill>
                <a:latin typeface="Arial"/>
              </a:rPr>
              <a:t>HOW A RECOMMENDATION IS MADE</a:t>
            </a:r>
          </a:p>
        </p:txBody>
      </p:sp>
      <p:sp>
        <p:nvSpPr>
          <p:cNvPr id="28" name="Rounded Rectangle 28"/>
          <p:cNvSpPr/>
          <p:nvPr/>
        </p:nvSpPr>
        <p:spPr>
          <a:xfrm>
            <a:off x="822960" y="582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2960" y="602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AI Recommends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2971314" y="6130000"/>
            <a:ext cx="15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1"/>
          <p:cNvSpPr/>
          <p:nvPr/>
        </p:nvSpPr>
        <p:spPr>
          <a:xfrm>
            <a:off x="3121314" y="582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3121314" y="602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Reasoning Shown</a:t>
            </a:r>
          </a:p>
        </p:txBody>
      </p:sp>
      <p:cxnSp>
        <p:nvCxnSpPr>
          <p:cNvPr id="33" name="Connector 33"/>
          <p:cNvCxnSpPr/>
          <p:nvPr/>
        </p:nvCxnSpPr>
        <p:spPr>
          <a:xfrm>
            <a:off x="5269668" y="6130000"/>
            <a:ext cx="15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4"/>
          <p:cNvSpPr/>
          <p:nvPr/>
        </p:nvSpPr>
        <p:spPr>
          <a:xfrm>
            <a:off x="5419668" y="582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5419668" y="602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Operator Reviews</a:t>
            </a:r>
          </a:p>
        </p:txBody>
      </p:sp>
      <p:cxnSp>
        <p:nvCxnSpPr>
          <p:cNvPr id="36" name="Connector 36"/>
          <p:cNvCxnSpPr/>
          <p:nvPr/>
        </p:nvCxnSpPr>
        <p:spPr>
          <a:xfrm>
            <a:off x="7568022" y="6130000"/>
            <a:ext cx="15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7"/>
          <p:cNvSpPr/>
          <p:nvPr/>
        </p:nvSpPr>
        <p:spPr>
          <a:xfrm>
            <a:off x="7718022" y="582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7718022" y="602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Human Decides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88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10512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810512"/>
            <a:ext cx="9052560" cy="3566160"/>
          </a:xfrm>
          <a:prstGeom prst="rect">
            <a:avLst/>
          </a:prstGeom>
          <a:solidFill>
            <a:srgbClr val="060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56231"/>
            <a:ext cx="8961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1" dirty="0">
                <a:solidFill>
                  <a:srgbClr val="AEB9CC"/>
                </a:solidFill>
                <a:latin typeface="Arial"/>
              </a:rPr>
              <a:t>A proof of concept, not a production deployment — built and validated in a controlled, simulated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13432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2459736"/>
            <a:ext cx="256032" cy="256032"/>
          </a:xfrm>
          <a:prstGeom prst="ellipse">
            <a:avLst/>
          </a:prstGeom>
          <a:solidFill>
            <a:srgbClr val="07211F"/>
          </a:solidFill>
          <a:ln w="1270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45973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DE0E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432303"/>
            <a:ext cx="2240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862072"/>
            <a:ext cx="2551176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Interactive dashboard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313432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050791" y="2459736"/>
            <a:ext cx="256032" cy="256032"/>
          </a:xfrm>
          <a:prstGeom prst="ellipse">
            <a:avLst/>
          </a:prstGeom>
          <a:solidFill>
            <a:srgbClr val="07211F"/>
          </a:solidFill>
          <a:ln w="1270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50791" y="245973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DE0E0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32303"/>
            <a:ext cx="2240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Python /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FastAPI</a:t>
            </a:r>
            <a:endParaRPr sz="1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50791" y="2862072"/>
            <a:ext cx="2551176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Backend &amp; risk-scoring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313432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14032" y="2459736"/>
            <a:ext cx="256032" cy="256032"/>
          </a:xfrm>
          <a:prstGeom prst="ellipse">
            <a:avLst/>
          </a:prstGeom>
          <a:solidFill>
            <a:srgbClr val="07211F"/>
          </a:solidFill>
          <a:ln w="1270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14032" y="245973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DE0E0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862072"/>
            <a:ext cx="2551176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Asset &amp; event data 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38144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87552" y="3584448"/>
            <a:ext cx="256032" cy="256032"/>
          </a:xfrm>
          <a:prstGeom prst="ellipse">
            <a:avLst/>
          </a:prstGeom>
          <a:solidFill>
            <a:srgbClr val="07211F"/>
          </a:solidFill>
          <a:ln w="1270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5844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DE0E0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57015"/>
            <a:ext cx="2240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Scikit-learn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986784"/>
            <a:ext cx="2551176" cy="218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Lightweight anomaly scoring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438144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050791" y="3584448"/>
            <a:ext cx="256032" cy="256032"/>
          </a:xfrm>
          <a:prstGeom prst="ellipse">
            <a:avLst/>
          </a:prstGeom>
          <a:solidFill>
            <a:srgbClr val="07211F"/>
          </a:solidFill>
          <a:ln w="1270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50791" y="35844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DE0E0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557015"/>
            <a:ext cx="2240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Graph Visualization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4080" y="3905754"/>
            <a:ext cx="2551176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Infrastructure &amp; attack-path maps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3438144"/>
            <a:ext cx="2880360" cy="9601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114032" y="3584448"/>
            <a:ext cx="256032" cy="256032"/>
          </a:xfrm>
          <a:prstGeom prst="ellipse">
            <a:avLst/>
          </a:prstGeom>
          <a:solidFill>
            <a:srgbClr val="07211F"/>
          </a:solidFill>
          <a:ln w="1270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14032" y="35844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DE0E0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3557015"/>
            <a:ext cx="2240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Simulated Telemetry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1464" y="3876081"/>
            <a:ext cx="2551176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Controlled hospital-scenario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2960" y="4507992"/>
            <a:ext cx="8915400" cy="0"/>
          </a:xfrm>
          <a:prstGeom prst="line">
            <a:avLst/>
          </a:prstGeom>
          <a:ln w="12700">
            <a:solidFill>
              <a:srgbClr val="1B2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07992" y="7168896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10 / 14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2960" y="5350000"/>
            <a:ext cx="600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 dirty="0">
                <a:solidFill>
                  <a:srgbClr val="5DE0E0"/>
                </a:solidFill>
                <a:latin typeface="Arial"/>
              </a:rPr>
              <a:t>HOW THE PIECES CONNECT</a:t>
            </a:r>
          </a:p>
        </p:txBody>
      </p:sp>
      <p:sp>
        <p:nvSpPr>
          <p:cNvPr id="40" name="Rounded Rectangle 40"/>
          <p:cNvSpPr/>
          <p:nvPr/>
        </p:nvSpPr>
        <p:spPr>
          <a:xfrm>
            <a:off x="822960" y="567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822960" y="587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Data Collected</a:t>
            </a:r>
          </a:p>
        </p:txBody>
      </p:sp>
      <p:cxnSp>
        <p:nvCxnSpPr>
          <p:cNvPr id="42" name="Connector 42"/>
          <p:cNvCxnSpPr/>
          <p:nvPr/>
        </p:nvCxnSpPr>
        <p:spPr>
          <a:xfrm>
            <a:off x="2971314" y="5980000"/>
            <a:ext cx="15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3"/>
          <p:cNvSpPr/>
          <p:nvPr/>
        </p:nvSpPr>
        <p:spPr>
          <a:xfrm>
            <a:off x="3121314" y="567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3121314" y="587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Backend Processes</a:t>
            </a:r>
          </a:p>
        </p:txBody>
      </p:sp>
      <p:cxnSp>
        <p:nvCxnSpPr>
          <p:cNvPr id="45" name="Connector 45"/>
          <p:cNvCxnSpPr/>
          <p:nvPr/>
        </p:nvCxnSpPr>
        <p:spPr>
          <a:xfrm>
            <a:off x="5269668" y="5980000"/>
            <a:ext cx="15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6"/>
          <p:cNvSpPr/>
          <p:nvPr/>
        </p:nvSpPr>
        <p:spPr>
          <a:xfrm>
            <a:off x="5419668" y="567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5419668" y="587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Risk Scored</a:t>
            </a:r>
          </a:p>
        </p:txBody>
      </p:sp>
      <p:cxnSp>
        <p:nvCxnSpPr>
          <p:cNvPr id="48" name="Connector 48"/>
          <p:cNvCxnSpPr/>
          <p:nvPr/>
        </p:nvCxnSpPr>
        <p:spPr>
          <a:xfrm>
            <a:off x="7568022" y="5980000"/>
            <a:ext cx="150000" cy="0"/>
          </a:xfrm>
          <a:prstGeom prst="line">
            <a:avLst/>
          </a:prstGeom>
          <a:ln w="19050">
            <a:solidFill>
              <a:srgbClr val="3DCFC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9"/>
          <p:cNvSpPr/>
          <p:nvPr/>
        </p:nvSpPr>
        <p:spPr>
          <a:xfrm>
            <a:off x="7718022" y="5670000"/>
            <a:ext cx="2148354" cy="620000"/>
          </a:xfrm>
          <a:prstGeom prst="roundRect">
            <a:avLst>
              <a:gd name="adj" fmla="val 10000"/>
            </a:avLst>
          </a:prstGeom>
          <a:solidFill>
            <a:srgbClr val="07211F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718022" y="5872278"/>
            <a:ext cx="2148354" cy="215444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Dashboard Displays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B43731-18DE-4155-4C05-F0B75F6A3A1E}"/>
              </a:ext>
            </a:extLst>
          </p:cNvPr>
          <p:cNvSpPr txBox="1"/>
          <p:nvPr/>
        </p:nvSpPr>
        <p:spPr>
          <a:xfrm>
            <a:off x="7498080" y="2503954"/>
            <a:ext cx="2240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IN" sz="1600" b="1" dirty="0">
                <a:solidFill>
                  <a:srgbClr val="FFFFFF"/>
                </a:solidFill>
                <a:latin typeface="Arial"/>
              </a:rPr>
              <a:t>SQLite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32150" y="840333"/>
            <a:ext cx="4619548" cy="671169"/>
          </a:xfrm>
          <a:prstGeom prst="roundRect">
            <a:avLst>
              <a:gd name="adj" fmla="val 12000"/>
            </a:avLst>
          </a:prstGeom>
          <a:solidFill>
            <a:srgbClr val="0A1123"/>
          </a:solidFill>
          <a:ln w="15875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32150" y="840333"/>
            <a:ext cx="4619548" cy="6711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 spc="100" dirty="0">
                <a:solidFill>
                  <a:srgbClr val="FFFFFF"/>
                </a:solidFill>
                <a:latin typeface="Arial"/>
              </a:rPr>
              <a:t>HOW SECTORS ACTUALLY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961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>
                <a:solidFill>
                  <a:srgbClr val="5DE0E0"/>
                </a:solidFill>
                <a:latin typeface="Arial"/>
              </a:rPr>
              <a:t>Future deployment concept: per-organization instances coordinated through existing sector trust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1874519" cy="77724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04058"/>
            <a:ext cx="187451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Hospital Instance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79" y="2811779"/>
            <a:ext cx="347472" cy="0"/>
          </a:xfrm>
          <a:prstGeom prst="line">
            <a:avLst/>
          </a:prstGeom>
          <a:ln w="2540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4951" y="2423160"/>
            <a:ext cx="1874519" cy="77724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1" y="2704058"/>
            <a:ext cx="187451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Own Risk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1" y="2811779"/>
            <a:ext cx="347472" cy="0"/>
          </a:xfrm>
          <a:prstGeom prst="line">
            <a:avLst/>
          </a:prstGeom>
          <a:ln w="2540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66944" y="2423160"/>
            <a:ext cx="1874519" cy="777240"/>
          </a:xfrm>
          <a:prstGeom prst="roundRect">
            <a:avLst>
              <a:gd name="adj" fmla="val 9000"/>
            </a:avLst>
          </a:prstGeom>
          <a:solidFill>
            <a:srgbClr val="0B1526"/>
          </a:solidFill>
          <a:ln w="15875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66944" y="2704058"/>
            <a:ext cx="187451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Aggregated Signal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41464" y="2811779"/>
            <a:ext cx="347472" cy="0"/>
          </a:xfrm>
          <a:prstGeom prst="line">
            <a:avLst/>
          </a:prstGeom>
          <a:ln w="2540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88936" y="2423160"/>
            <a:ext cx="1874519" cy="777240"/>
          </a:xfrm>
          <a:prstGeom prst="roundRect">
            <a:avLst>
              <a:gd name="adj" fmla="val 9000"/>
            </a:avLst>
          </a:prstGeom>
          <a:solidFill>
            <a:srgbClr val="2A1010"/>
          </a:solidFill>
          <a:ln w="22225">
            <a:solidFill>
              <a:srgbClr val="E1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88936" y="2704058"/>
            <a:ext cx="187451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</a:rPr>
              <a:t>Sector Coordination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8961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1" dirty="0">
                <a:solidFill>
                  <a:srgbClr val="8692A6"/>
                </a:solidFill>
                <a:latin typeface="Arial"/>
              </a:rPr>
              <a:t>Each organization keeps its own instance and its own data — cross-sector visibility is built at the coordination layer, not by pooling raw telemetry.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840480"/>
            <a:ext cx="8869680" cy="0"/>
          </a:xfrm>
          <a:prstGeom prst="line">
            <a:avLst/>
          </a:prstGeom>
          <a:ln w="12700">
            <a:solidFill>
              <a:srgbClr val="1B2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4114800"/>
            <a:ext cx="1572768" cy="7772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318754"/>
            <a:ext cx="157276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AEB9CC"/>
                </a:solidFill>
                <a:latin typeface="Arial"/>
              </a:rPr>
              <a:t>Own Data,</a:t>
            </a:r>
          </a:p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AEB9CC"/>
                </a:solidFill>
                <a:latin typeface="Arial"/>
              </a:rPr>
              <a:t>Own Instance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96896" y="4114800"/>
            <a:ext cx="1572768" cy="7772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96896" y="4318754"/>
            <a:ext cx="157276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AEB9CC"/>
                </a:solidFill>
                <a:latin typeface="Arial"/>
              </a:rPr>
              <a:t>Known</a:t>
            </a:r>
          </a:p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AEB9CC"/>
                </a:solidFill>
                <a:latin typeface="Arial"/>
              </a:rPr>
              <a:t>Dependencies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1" y="4114800"/>
            <a:ext cx="1572768" cy="7772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0831" y="4318754"/>
            <a:ext cx="157276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AEB9CC"/>
                </a:solidFill>
                <a:latin typeface="Arial"/>
              </a:rPr>
              <a:t>Aggregated,</a:t>
            </a:r>
          </a:p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AEB9CC"/>
                </a:solidFill>
                <a:latin typeface="Arial"/>
              </a:rPr>
              <a:t>Anonymized Signals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7" y="4114800"/>
            <a:ext cx="1572768" cy="77724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2700">
            <a:solidFill>
              <a:srgbClr val="2A4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4767" y="4318754"/>
            <a:ext cx="157276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AEB9CC"/>
                </a:solidFill>
                <a:latin typeface="Arial"/>
              </a:rPr>
              <a:t>Sector</a:t>
            </a:r>
          </a:p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AEB9CC"/>
                </a:solidFill>
                <a:latin typeface="Arial"/>
              </a:rPr>
              <a:t>Coordination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09344" y="4892040"/>
            <a:ext cx="0" cy="13716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83279" y="4892040"/>
            <a:ext cx="0" cy="13716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57216" y="4892040"/>
            <a:ext cx="0" cy="13716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31151" y="4892040"/>
            <a:ext cx="0" cy="13716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09344" y="5029200"/>
            <a:ext cx="5321807" cy="0"/>
          </a:xfrm>
          <a:prstGeom prst="line">
            <a:avLst/>
          </a:prstGeom>
          <a:ln w="12700">
            <a:solidFill>
              <a:srgbClr val="3A301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09360" y="5029200"/>
            <a:ext cx="0" cy="201168"/>
          </a:xfrm>
          <a:prstGeom prst="line">
            <a:avLst/>
          </a:prstGeom>
          <a:ln w="1905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37760" y="5257800"/>
            <a:ext cx="2743200" cy="621792"/>
          </a:xfrm>
          <a:prstGeom prst="roundRect">
            <a:avLst>
              <a:gd name="adj" fmla="val 10000"/>
            </a:avLst>
          </a:prstGeom>
          <a:solidFill>
            <a:srgbClr val="1A1200"/>
          </a:solidFill>
          <a:ln w="1905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0" y="5257800"/>
            <a:ext cx="27432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spc="50" dirty="0">
                <a:solidFill>
                  <a:srgbClr val="C8A74B"/>
                </a:solidFill>
                <a:latin typeface="Arial"/>
              </a:rPr>
              <a:t>CROSS-SECTOR PICTURE, WITHOUT SHARING RAW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9052560" cy="3566160"/>
          </a:xfrm>
          <a:prstGeom prst="rect">
            <a:avLst/>
          </a:prstGeom>
          <a:solidFill>
            <a:srgbClr val="060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2880360" cy="2331720"/>
          </a:xfrm>
          <a:prstGeom prst="roundRect">
            <a:avLst>
              <a:gd name="adj" fmla="val 8000"/>
            </a:avLst>
          </a:prstGeom>
          <a:solidFill>
            <a:srgbClr val="0B1526"/>
          </a:solidFill>
          <a:ln w="1905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34540" y="2532888"/>
            <a:ext cx="457200" cy="457200"/>
          </a:xfrm>
          <a:prstGeom prst="ellipse">
            <a:avLst/>
          </a:prstGeom>
          <a:solidFill>
            <a:srgbClr val="07211F"/>
          </a:solidFill>
          <a:ln w="19050">
            <a:solidFill>
              <a:srgbClr val="3D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34540" y="2532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5DE0E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54679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66160"/>
            <a:ext cx="2478024" cy="10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Simulated hospital environment, core risk-assessment engine and dashboard.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3497579"/>
            <a:ext cx="182880" cy="0"/>
          </a:xfrm>
          <a:prstGeom prst="line">
            <a:avLst/>
          </a:prstGeom>
          <a:ln w="2540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331720"/>
            <a:ext cx="2880360" cy="2331720"/>
          </a:xfrm>
          <a:prstGeom prst="roundRect">
            <a:avLst>
              <a:gd name="adj" fmla="val 8000"/>
            </a:avLst>
          </a:prstGeom>
          <a:solidFill>
            <a:srgbClr val="070F1C"/>
          </a:solidFill>
          <a:ln w="1270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97780" y="2532888"/>
            <a:ext cx="457200" cy="457200"/>
          </a:xfrm>
          <a:prstGeom prst="ellipse">
            <a:avLst/>
          </a:prstGeom>
          <a:solidFill>
            <a:srgbClr val="0B1526"/>
          </a:solidFill>
          <a:ln w="1905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97780" y="2532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C8A74B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154679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Real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3566160"/>
            <a:ext cx="2478024" cy="751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Live telemetry feeds, external threat intelligence, and existing security-tool connections.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66560" y="3497579"/>
            <a:ext cx="182880" cy="0"/>
          </a:xfrm>
          <a:prstGeom prst="line">
            <a:avLst/>
          </a:prstGeom>
          <a:ln w="25400">
            <a:solidFill>
              <a:srgbClr val="C8A7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0" y="2331720"/>
            <a:ext cx="2880360" cy="2331720"/>
          </a:xfrm>
          <a:prstGeom prst="roundRect">
            <a:avLst>
              <a:gd name="adj" fmla="val 8000"/>
            </a:avLst>
          </a:prstGeom>
          <a:solidFill>
            <a:srgbClr val="070F1C"/>
          </a:solidFill>
          <a:ln w="1270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61019" y="2532888"/>
            <a:ext cx="457200" cy="457200"/>
          </a:xfrm>
          <a:prstGeom prst="ellipse">
            <a:avLst/>
          </a:prstGeom>
          <a:solidFill>
            <a:srgbClr val="0B1526"/>
          </a:solidFill>
          <a:ln w="1905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1019" y="2532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C8A74B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154679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Multi-Sector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7" y="3566160"/>
            <a:ext cx="2478024" cy="10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0" i="0" dirty="0">
                <a:solidFill>
                  <a:srgbClr val="AEB9CC"/>
                </a:solidFill>
                <a:latin typeface="Arial"/>
              </a:rPr>
              <a:t>Richer simulation, controlled automation, and coverage across power, water, and transport.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8961120" cy="542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 i="1" dirty="0">
                <a:solidFill>
                  <a:srgbClr val="8692A6"/>
                </a:solidFill>
                <a:latin typeface="Arial"/>
              </a:rPr>
              <a:t>Future direction: richer telemetry, threat intelligence, deeper security-tool integration, richer simulation, and policy-controlled response automation.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828800"/>
            <a:ext cx="9144000" cy="4389120"/>
          </a:xfrm>
          <a:prstGeom prst="rect">
            <a:avLst/>
          </a:prstGeom>
          <a:noFill/>
        </p:spPr>
        <p:txBody>
          <a:bodyPr wrap="none" lIns="73152" rIns="73152">
            <a:spAutoFit/>
          </a:bodyPr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29353" y="210312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0A1123"/>
          </a:solidFill>
          <a:ln w="12700">
            <a:solidFill>
              <a:srgbClr val="C8A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34840" y="2235595"/>
            <a:ext cx="1828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 spc="50" dirty="0">
                <a:solidFill>
                  <a:srgbClr val="C8A74B"/>
                </a:solidFill>
                <a:latin typeface="Arial"/>
              </a:rPr>
              <a:t>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8310067" cy="1158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2000" b="0" i="1" dirty="0">
                <a:solidFill>
                  <a:srgbClr val="FFFFFF"/>
                </a:solidFill>
                <a:latin typeface="Arial"/>
              </a:rPr>
              <a:t>“Cybersecurity should not only detect when infrastructure is under attack. It should help us understand what is at risk, choose the safest response, and keep critical services running.”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588" y="4141035"/>
            <a:ext cx="9041587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IN" sz="3800" b="1" i="0" spc="300" dirty="0">
                <a:solidFill>
                  <a:srgbClr val="FFFFFF"/>
                </a:solidFill>
                <a:latin typeface="Arial"/>
              </a:rPr>
              <a:t>CASCADIA</a:t>
            </a:r>
            <a:endParaRPr sz="3800" b="1" i="0" spc="3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07992" y="7187184"/>
            <a:ext cx="1668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3DCFCF"/>
                </a:solidFill>
                <a:latin typeface="Arial"/>
              </a:rPr>
              <a:t>14 / 14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2854B6D-A30A-E13D-B378-91BDBD23D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197" y="5185426"/>
            <a:ext cx="3707363" cy="10972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972</Words>
  <Application>Microsoft Office PowerPoint</Application>
  <PresentationFormat>Custom</PresentationFormat>
  <Paragraphs>204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aaryan rai</dc:creator>
  <cp:keywords/>
  <dc:description>generated using python-pptx</dc:description>
  <cp:lastModifiedBy>aaryan rai</cp:lastModifiedBy>
  <cp:revision>7</cp:revision>
  <dcterms:created xsi:type="dcterms:W3CDTF">2013-01-27T09:14:16Z</dcterms:created>
  <dcterms:modified xsi:type="dcterms:W3CDTF">2026-08-22T06:38:34Z</dcterms:modified>
  <cp:category/>
</cp:coreProperties>
</file>